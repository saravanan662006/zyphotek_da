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5"/>
    <p:sldId id="258" r:id="rId6"/>
    <p:sldId id="259" r:id="rId7"/>
    <p:sldId id="260" r:id="rId8"/>
    <p:sldId id="261" r:id="rId9"/>
    <p:sldId id="262" r:id="rId10"/>
    <p:sldId id="256" r:id="rId11"/>
    <p:sldId id="263" r:id="rId12"/>
    <p:sldId id="264" r:id="rId13"/>
    <p:sldId id="265" r:id="rId14"/>
    <p:sldId id="266" r:id="rId15"/>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A2663D-2C2D-47C1-98EA-FEE77F60189C}" v="10" dt="2026-06-29T04:21:58.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1"/>
    <p:restoredTop sz="94647"/>
  </p:normalViewPr>
  <p:slideViewPr>
    <p:cSldViewPr snapToGrid="0" snapToObjects="1">
      <p:cViewPr>
        <p:scale>
          <a:sx n="50" d="100"/>
          <a:sy n="50" d="100"/>
        </p:scale>
        <p:origin x="-115" y="9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6/29/2026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spreadsheets/d/1OfubAEj9LL_rpQdlWoia8LcuP61NxMvmx7LCDtz3rQ8/edit?resourcekey=&amp;gid=1753575781#gid=1753575781" TargetMode="External"/><Relationship Id="rId2" Type="http://schemas.openxmlformats.org/officeDocument/2006/relationships/hyperlink" Target="https://colab.research.google.com/drive/1H2kKRLrV4lxysKH_6CyICnirMEbvHTnC?usp=drive_lin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398E-B4FC-DB20-C81D-F557DD436A1B}"/>
              </a:ext>
            </a:extLst>
          </p:cNvPr>
          <p:cNvSpPr>
            <a:spLocks noGrp="1"/>
          </p:cNvSpPr>
          <p:nvPr>
            <p:ph type="ctrTitle"/>
          </p:nvPr>
        </p:nvSpPr>
        <p:spPr>
          <a:xfrm>
            <a:off x="1524000" y="1345497"/>
            <a:ext cx="9144000" cy="766763"/>
          </a:xfrm>
        </p:spPr>
        <p:txBody>
          <a:bodyPr>
            <a:normAutofit/>
          </a:bodyPr>
          <a:lstStyle/>
          <a:p>
            <a:r>
              <a:rPr lang="en-IN" sz="4000" b="1" dirty="0">
                <a:latin typeface="Times New Roman" panose="02020603050405020304" pitchFamily="18" charset="0"/>
                <a:cs typeface="Times New Roman" panose="02020603050405020304" pitchFamily="18" charset="0"/>
              </a:rPr>
              <a:t>South Indian College Data Analysis</a:t>
            </a:r>
          </a:p>
        </p:txBody>
      </p:sp>
      <p:sp>
        <p:nvSpPr>
          <p:cNvPr id="3" name="Subtitle 2">
            <a:extLst>
              <a:ext uri="{FF2B5EF4-FFF2-40B4-BE49-F238E27FC236}">
                <a16:creationId xmlns:a16="http://schemas.microsoft.com/office/drawing/2014/main" id="{E5443043-76E8-33A6-ADC0-373E4FAA39C5}"/>
              </a:ext>
            </a:extLst>
          </p:cNvPr>
          <p:cNvSpPr>
            <a:spLocks noGrp="1"/>
          </p:cNvSpPr>
          <p:nvPr>
            <p:ph type="subTitle" idx="1"/>
          </p:nvPr>
        </p:nvSpPr>
        <p:spPr>
          <a:xfrm>
            <a:off x="1524000" y="3489185"/>
            <a:ext cx="9144000" cy="1655762"/>
          </a:xfrm>
        </p:spPr>
        <p:txBody>
          <a:bodyPr>
            <a:normAutofit lnSpcReduction="10000"/>
          </a:bodyPr>
          <a:lstStyle/>
          <a:p>
            <a:pPr algn="l"/>
            <a:r>
              <a:rPr lang="en-IN" dirty="0">
                <a:latin typeface="Times New Roman" panose="02020603050405020304" pitchFamily="18" charset="0"/>
                <a:cs typeface="Times New Roman" panose="02020603050405020304" pitchFamily="18" charset="0"/>
              </a:rPr>
              <a:t>Name: S N Saravanan</a:t>
            </a:r>
          </a:p>
          <a:p>
            <a:pPr algn="l"/>
            <a:r>
              <a:rPr lang="en-IN" dirty="0">
                <a:latin typeface="Times New Roman" panose="02020603050405020304" pitchFamily="18" charset="0"/>
                <a:cs typeface="Times New Roman" panose="02020603050405020304" pitchFamily="18" charset="0"/>
              </a:rPr>
              <a:t>Dept: CSE(IOT)</a:t>
            </a:r>
          </a:p>
          <a:p>
            <a:pPr algn="l"/>
            <a:r>
              <a:rPr lang="en-IN" dirty="0">
                <a:latin typeface="Times New Roman" panose="02020603050405020304" pitchFamily="18" charset="0"/>
                <a:cs typeface="Times New Roman" panose="02020603050405020304" pitchFamily="18" charset="0"/>
              </a:rPr>
              <a:t>College: Sri Sairam Engineering College</a:t>
            </a:r>
          </a:p>
          <a:p>
            <a:pPr algn="l"/>
            <a:r>
              <a:rPr lang="en-IN" dirty="0">
                <a:latin typeface="Times New Roman" panose="02020603050405020304" pitchFamily="18" charset="0"/>
                <a:cs typeface="Times New Roman" panose="02020603050405020304" pitchFamily="18" charset="0"/>
              </a:rPr>
              <a:t>Date:30/6/2026</a:t>
            </a:r>
          </a:p>
        </p:txBody>
      </p:sp>
    </p:spTree>
    <p:extLst>
      <p:ext uri="{BB962C8B-B14F-4D97-AF65-F5344CB8AC3E}">
        <p14:creationId xmlns:p14="http://schemas.microsoft.com/office/powerpoint/2010/main" val="3334038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A7478-3F37-E278-545D-0523A498422C}"/>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A8CF1915-6089-FFF9-D8E0-198F71CFCE55}"/>
              </a:ext>
            </a:extLst>
          </p:cNvPr>
          <p:cNvSpPr>
            <a:spLocks noGrp="1"/>
          </p:cNvSpPr>
          <p:nvPr>
            <p:ph idx="1"/>
          </p:nvPr>
        </p:nvSpPr>
        <p:spPr/>
        <p:txBody>
          <a:bodyPr/>
          <a:lstStyle/>
          <a:p>
            <a:pPr marL="0" indent="0">
              <a:buNone/>
            </a:pPr>
            <a:r>
              <a:rPr lang="en-IN" dirty="0"/>
              <a:t> </a:t>
            </a:r>
            <a:r>
              <a:rPr lang="en-IN" dirty="0">
                <a:latin typeface="Times New Roman" panose="02020603050405020304" pitchFamily="18" charset="0"/>
                <a:cs typeface="Times New Roman" panose="02020603050405020304" pitchFamily="18" charset="0"/>
              </a:rPr>
              <a:t>This project focuses on collecting, organizing, cleaning,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and visualizing data from colleges across South India. A structured database was built containing college details, courses offered, NAAC grades, placement statistics, and key contacts. Using Python for analysis and Power BI for visualization, the project delivers actionable insights to support educational market research, recruitment strategies, and data driven decision making.</a:t>
            </a:r>
          </a:p>
        </p:txBody>
      </p:sp>
    </p:spTree>
    <p:extLst>
      <p:ext uri="{BB962C8B-B14F-4D97-AF65-F5344CB8AC3E}">
        <p14:creationId xmlns:p14="http://schemas.microsoft.com/office/powerpoint/2010/main" val="2761247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8EDA-75C9-1BAA-CD27-4C750A1C12FC}"/>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Data Collection Method:</a:t>
            </a:r>
          </a:p>
        </p:txBody>
      </p:sp>
      <p:sp>
        <p:nvSpPr>
          <p:cNvPr id="3" name="Content Placeholder 2">
            <a:extLst>
              <a:ext uri="{FF2B5EF4-FFF2-40B4-BE49-F238E27FC236}">
                <a16:creationId xmlns:a16="http://schemas.microsoft.com/office/drawing/2014/main" id="{0A840B3E-38E9-A7FA-1E75-41EE47DDC09F}"/>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Sources: official college websites, NAAC reports, </a:t>
            </a:r>
            <a:r>
              <a:rPr lang="en-IN" dirty="0" err="1">
                <a:latin typeface="Times New Roman" panose="02020603050405020304" pitchFamily="18" charset="0"/>
                <a:cs typeface="Times New Roman" panose="02020603050405020304" pitchFamily="18" charset="0"/>
              </a:rPr>
              <a:t>Gform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Techniques: manual verification</a:t>
            </a:r>
          </a:p>
          <a:p>
            <a:r>
              <a:rPr lang="en-IN" dirty="0">
                <a:latin typeface="Times New Roman" panose="02020603050405020304" pitchFamily="18" charset="0"/>
                <a:cs typeface="Times New Roman" panose="02020603050405020304" pitchFamily="18" charset="0"/>
              </a:rPr>
              <a:t>Data fields: college info, courses, NAAC grade, placement stats, contacts</a:t>
            </a:r>
          </a:p>
          <a:p>
            <a:r>
              <a:rPr lang="en-IN" dirty="0">
                <a:latin typeface="Times New Roman" panose="02020603050405020304" pitchFamily="18" charset="0"/>
                <a:cs typeface="Times New Roman" panose="02020603050405020304" pitchFamily="18" charset="0"/>
              </a:rPr>
              <a:t>Outcome: Standardized dataset for South Indian colleges</a:t>
            </a:r>
          </a:p>
          <a:p>
            <a:pPr marL="0" indent="0">
              <a:buNone/>
            </a:pPr>
            <a:endParaRPr lang="en-IN" dirty="0"/>
          </a:p>
        </p:txBody>
      </p:sp>
    </p:spTree>
    <p:extLst>
      <p:ext uri="{BB962C8B-B14F-4D97-AF65-F5344CB8AC3E}">
        <p14:creationId xmlns:p14="http://schemas.microsoft.com/office/powerpoint/2010/main" val="3235515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C5ABD-77EE-8FAC-A696-606884AC6FAE}"/>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Data Cleaning:</a:t>
            </a:r>
          </a:p>
        </p:txBody>
      </p:sp>
      <p:sp>
        <p:nvSpPr>
          <p:cNvPr id="3" name="Content Placeholder 2">
            <a:extLst>
              <a:ext uri="{FF2B5EF4-FFF2-40B4-BE49-F238E27FC236}">
                <a16:creationId xmlns:a16="http://schemas.microsoft.com/office/drawing/2014/main" id="{16D64B5E-6209-F312-5444-4D91579BD08E}"/>
              </a:ext>
            </a:extLst>
          </p:cNvPr>
          <p:cNvSpPr>
            <a:spLocks noGrp="1"/>
          </p:cNvSpPr>
          <p:nvPr>
            <p:ph idx="1"/>
          </p:nvPr>
        </p:nvSpPr>
        <p:spPr/>
        <p:txBody>
          <a:bodyPr/>
          <a:lstStyle/>
          <a:p>
            <a:r>
              <a:rPr lang="en-IN" dirty="0"/>
              <a:t>Removed duplicates and inconsistencies</a:t>
            </a:r>
          </a:p>
          <a:p>
            <a:r>
              <a:rPr lang="en-IN" dirty="0"/>
              <a:t>Standardized state names and NAAC grades</a:t>
            </a:r>
          </a:p>
          <a:p>
            <a:r>
              <a:rPr lang="en-IN" dirty="0"/>
              <a:t>Handled missing values (emails, phone numbers)</a:t>
            </a:r>
          </a:p>
          <a:p>
            <a:r>
              <a:rPr lang="en-IN" dirty="0"/>
              <a:t>Ensured numeric accuracy for placement % and student strength</a:t>
            </a:r>
          </a:p>
        </p:txBody>
      </p:sp>
    </p:spTree>
    <p:extLst>
      <p:ext uri="{BB962C8B-B14F-4D97-AF65-F5344CB8AC3E}">
        <p14:creationId xmlns:p14="http://schemas.microsoft.com/office/powerpoint/2010/main" val="2043964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ECEB-E0EE-2B23-3769-B30ADBB420A3}"/>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Python Analysis:</a:t>
            </a:r>
          </a:p>
        </p:txBody>
      </p:sp>
      <p:sp>
        <p:nvSpPr>
          <p:cNvPr id="3" name="Content Placeholder 2">
            <a:extLst>
              <a:ext uri="{FF2B5EF4-FFF2-40B4-BE49-F238E27FC236}">
                <a16:creationId xmlns:a16="http://schemas.microsoft.com/office/drawing/2014/main" id="{D9CFA1B8-8B07-B847-C7FF-707E2CD946A6}"/>
              </a:ext>
            </a:extLst>
          </p:cNvPr>
          <p:cNvSpPr>
            <a:spLocks noGrp="1"/>
          </p:cNvSpPr>
          <p:nvPr>
            <p:ph idx="1"/>
          </p:nvPr>
        </p:nvSpPr>
        <p:spPr/>
        <p:txBody>
          <a:bodyPr>
            <a:normAutofit fontScale="77500" lnSpcReduction="20000"/>
          </a:bodyPr>
          <a:lstStyle/>
          <a:p>
            <a:pPr marL="0" indent="0">
              <a:buNone/>
            </a:pPr>
            <a:r>
              <a:rPr lang="en-IN" b="1" dirty="0">
                <a:latin typeface="Times New Roman" panose="02020603050405020304" pitchFamily="18" charset="0"/>
                <a:cs typeface="Times New Roman" panose="02020603050405020304" pitchFamily="18" charset="0"/>
              </a:rPr>
              <a:t>Exploratory Data Analysis (EDA)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Generated dataset overview (info(), describe(), null counts)</a:t>
            </a:r>
          </a:p>
          <a:p>
            <a:r>
              <a:rPr lang="en-IN" dirty="0">
                <a:latin typeface="Times New Roman" panose="02020603050405020304" pitchFamily="18" charset="0"/>
                <a:cs typeface="Times New Roman" panose="02020603050405020304" pitchFamily="18" charset="0"/>
              </a:rPr>
              <a:t>State‑wise college count (frequency distribution) </a:t>
            </a:r>
          </a:p>
          <a:p>
            <a:r>
              <a:rPr lang="en-IN" dirty="0">
                <a:latin typeface="Times New Roman" panose="02020603050405020304" pitchFamily="18" charset="0"/>
                <a:cs typeface="Times New Roman" panose="02020603050405020304" pitchFamily="18" charset="0"/>
              </a:rPr>
              <a:t>NAAC grade distribution</a:t>
            </a:r>
          </a:p>
          <a:p>
            <a:pPr marL="0" indent="0">
              <a:buNone/>
            </a:pPr>
            <a:r>
              <a:rPr lang="en-IN" b="1" dirty="0">
                <a:latin typeface="Times New Roman" panose="02020603050405020304" pitchFamily="18" charset="0"/>
                <a:cs typeface="Times New Roman" panose="02020603050405020304" pitchFamily="18" charset="0"/>
              </a:rPr>
              <a:t>Visualizations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Bar chart: Colleges by state</a:t>
            </a:r>
          </a:p>
          <a:p>
            <a:r>
              <a:rPr lang="en-IN" dirty="0">
                <a:latin typeface="Times New Roman" panose="02020603050405020304" pitchFamily="18" charset="0"/>
                <a:cs typeface="Times New Roman" panose="02020603050405020304" pitchFamily="18" charset="0"/>
              </a:rPr>
              <a:t>Pie chart: NAAC grade distribution</a:t>
            </a:r>
          </a:p>
          <a:p>
            <a:pPr marL="0" indent="0">
              <a:buNone/>
            </a:pPr>
            <a:r>
              <a:rPr lang="en-IN" b="1" dirty="0">
                <a:latin typeface="Times New Roman" panose="02020603050405020304" pitchFamily="18" charset="0"/>
                <a:cs typeface="Times New Roman" panose="02020603050405020304" pitchFamily="18" charset="0"/>
              </a:rPr>
              <a:t>Statistical Insights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Descriptive statistics for student strength (mean, median, min, max)</a:t>
            </a:r>
          </a:p>
          <a:p>
            <a:r>
              <a:rPr lang="en-IN" dirty="0">
                <a:latin typeface="Times New Roman" panose="02020603050405020304" pitchFamily="18" charset="0"/>
                <a:cs typeface="Times New Roman" panose="02020603050405020304" pitchFamily="18" charset="0"/>
              </a:rPr>
              <a:t>Total number of colleges</a:t>
            </a:r>
          </a:p>
          <a:p>
            <a:r>
              <a:rPr lang="en-IN" dirty="0">
                <a:latin typeface="Times New Roman" panose="02020603050405020304" pitchFamily="18" charset="0"/>
                <a:cs typeface="Times New Roman" panose="02020603050405020304" pitchFamily="18" charset="0"/>
              </a:rPr>
              <a:t>Unique states represented</a:t>
            </a:r>
          </a:p>
          <a:p>
            <a:r>
              <a:rPr lang="en-IN" dirty="0">
                <a:latin typeface="Times New Roman" panose="02020603050405020304" pitchFamily="18" charset="0"/>
                <a:cs typeface="Times New Roman" panose="02020603050405020304" pitchFamily="18" charset="0"/>
              </a:rPr>
              <a:t>Most common NAAC grade</a:t>
            </a:r>
          </a:p>
          <a:p>
            <a:pPr marL="0" indent="0">
              <a:buNone/>
            </a:pPr>
            <a:endParaRPr lang="en-IN" dirty="0"/>
          </a:p>
        </p:txBody>
      </p:sp>
    </p:spTree>
    <p:extLst>
      <p:ext uri="{BB962C8B-B14F-4D97-AF65-F5344CB8AC3E}">
        <p14:creationId xmlns:p14="http://schemas.microsoft.com/office/powerpoint/2010/main" val="3687406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3B950-FBB3-CDD5-AA81-3A8B471996A8}"/>
              </a:ext>
            </a:extLst>
          </p:cNvPr>
          <p:cNvSpPr>
            <a:spLocks noGrp="1"/>
          </p:cNvSpPr>
          <p:nvPr>
            <p:ph type="title"/>
          </p:nvPr>
        </p:nvSpPr>
        <p:spPr>
          <a:xfrm>
            <a:off x="487680" y="290035"/>
            <a:ext cx="10515600" cy="782003"/>
          </a:xfrm>
        </p:spPr>
        <p:txBody>
          <a:bodyPr>
            <a:normAutofit/>
          </a:bodyPr>
          <a:lstStyle/>
          <a:p>
            <a:r>
              <a:rPr lang="en-IN" sz="3000" b="1"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4311DC4F-085A-130D-378C-C62B6E934696}"/>
              </a:ext>
            </a:extLst>
          </p:cNvPr>
          <p:cNvSpPr>
            <a:spLocks noGrp="1"/>
          </p:cNvSpPr>
          <p:nvPr>
            <p:ph idx="1"/>
          </p:nvPr>
        </p:nvSpPr>
        <p:spPr>
          <a:xfrm>
            <a:off x="838200" y="1072038"/>
            <a:ext cx="10515600" cy="5104925"/>
          </a:xfrm>
        </p:spPr>
        <p:txBody>
          <a:bodyPr>
            <a:normAutofit fontScale="70000" lnSpcReduction="20000"/>
          </a:bodyPr>
          <a:lstStyle/>
          <a:p>
            <a:pPr marL="0" indent="0">
              <a:buNone/>
            </a:pPr>
            <a:r>
              <a:rPr lang="en-IN" b="1" dirty="0">
                <a:latin typeface="Times New Roman" panose="02020603050405020304" pitchFamily="18" charset="0"/>
                <a:cs typeface="Times New Roman" panose="02020603050405020304" pitchFamily="18" charset="0"/>
              </a:rPr>
              <a:t>📊 Overview &amp; Scope</a:t>
            </a:r>
          </a:p>
          <a:p>
            <a:r>
              <a:rPr lang="en-IN" b="1" dirty="0">
                <a:latin typeface="Times New Roman" panose="02020603050405020304" pitchFamily="18" charset="0"/>
                <a:cs typeface="Times New Roman" panose="02020603050405020304" pitchFamily="18" charset="0"/>
              </a:rPr>
              <a:t>Total Dataset:</a:t>
            </a:r>
            <a:r>
              <a:rPr lang="en-IN" dirty="0">
                <a:latin typeface="Times New Roman" panose="02020603050405020304" pitchFamily="18" charset="0"/>
                <a:cs typeface="Times New Roman" panose="02020603050405020304" pitchFamily="18" charset="0"/>
              </a:rPr>
              <a:t> The cleaned dataset contains a total of </a:t>
            </a:r>
            <a:r>
              <a:rPr lang="en-IN" b="1" dirty="0">
                <a:latin typeface="Times New Roman" panose="02020603050405020304" pitchFamily="18" charset="0"/>
                <a:cs typeface="Times New Roman" panose="02020603050405020304" pitchFamily="18" charset="0"/>
              </a:rPr>
              <a:t>106 colleges</a:t>
            </a:r>
            <a:r>
              <a:rPr lang="en-IN" dirty="0">
                <a:latin typeface="Times New Roman" panose="02020603050405020304" pitchFamily="18" charset="0"/>
                <a:cs typeface="Times New Roman" panose="02020603050405020304" pitchFamily="18" charset="0"/>
              </a:rPr>
              <a:t> across </a:t>
            </a:r>
            <a:r>
              <a:rPr lang="en-IN" b="1" dirty="0">
                <a:latin typeface="Times New Roman" panose="02020603050405020304" pitchFamily="18" charset="0"/>
                <a:cs typeface="Times New Roman" panose="02020603050405020304" pitchFamily="18" charset="0"/>
              </a:rPr>
              <a:t>24 unique locations</a:t>
            </a:r>
            <a:r>
              <a:rPr lang="en-IN" dirty="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 Geographic Distribution</a:t>
            </a:r>
          </a:p>
          <a:p>
            <a:r>
              <a:rPr lang="en-IN" b="1" dirty="0">
                <a:latin typeface="Times New Roman" panose="02020603050405020304" pitchFamily="18" charset="0"/>
                <a:cs typeface="Times New Roman" panose="02020603050405020304" pitchFamily="18" charset="0"/>
              </a:rPr>
              <a:t>Primary Hubs: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Chennai</a:t>
            </a:r>
            <a:r>
              <a:rPr lang="en-IN" dirty="0">
                <a:latin typeface="Times New Roman" panose="02020603050405020304" pitchFamily="18" charset="0"/>
                <a:cs typeface="Times New Roman" panose="02020603050405020304" pitchFamily="18" charset="0"/>
              </a:rPr>
              <a:t> is the dominant hub with </a:t>
            </a:r>
            <a:r>
              <a:rPr lang="en-IN" b="1" dirty="0">
                <a:latin typeface="Times New Roman" panose="02020603050405020304" pitchFamily="18" charset="0"/>
                <a:cs typeface="Times New Roman" panose="02020603050405020304" pitchFamily="18" charset="0"/>
              </a:rPr>
              <a:t>44 colleges</a:t>
            </a:r>
            <a:r>
              <a:rPr lang="en-IN" dirty="0">
                <a:latin typeface="Times New Roman" panose="02020603050405020304" pitchFamily="18" charset="0"/>
                <a:cs typeface="Times New Roman" panose="02020603050405020304" pitchFamily="18" charset="0"/>
              </a:rPr>
              <a:t>, followed by </a:t>
            </a:r>
            <a:r>
              <a:rPr lang="en-IN" b="1" dirty="0">
                <a:latin typeface="Times New Roman" panose="02020603050405020304" pitchFamily="18" charset="0"/>
                <a:cs typeface="Times New Roman" panose="02020603050405020304" pitchFamily="18" charset="0"/>
              </a:rPr>
              <a:t>Coimbatore</a:t>
            </a:r>
            <a:r>
              <a:rPr lang="en-IN" dirty="0">
                <a:latin typeface="Times New Roman" panose="02020603050405020304" pitchFamily="18" charset="0"/>
                <a:cs typeface="Times New Roman" panose="02020603050405020304" pitchFamily="18" charset="0"/>
              </a:rPr>
              <a:t> with </a:t>
            </a:r>
            <a:r>
              <a:rPr lang="en-IN" b="1" dirty="0">
                <a:latin typeface="Times New Roman" panose="02020603050405020304" pitchFamily="18" charset="0"/>
                <a:cs typeface="Times New Roman" panose="02020603050405020304" pitchFamily="18" charset="0"/>
              </a:rPr>
              <a:t>21 colleges</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Other Notable Locations:</a:t>
            </a:r>
            <a:r>
              <a:rPr lang="en-IN" dirty="0">
                <a:latin typeface="Times New Roman" panose="02020603050405020304" pitchFamily="18" charset="0"/>
                <a:cs typeface="Times New Roman" panose="02020603050405020304" pitchFamily="18" charset="0"/>
              </a:rPr>
              <a:t> Erode has 5 colleges, while Sriperumbudur, Salem, </a:t>
            </a:r>
            <a:r>
              <a:rPr lang="en-IN" dirty="0" err="1">
                <a:latin typeface="Times New Roman" panose="02020603050405020304" pitchFamily="18" charset="0"/>
                <a:cs typeface="Times New Roman" panose="02020603050405020304" pitchFamily="18" charset="0"/>
              </a:rPr>
              <a:t>Tiruchengode</a:t>
            </a:r>
            <a:r>
              <a:rPr lang="en-IN" dirty="0">
                <a:latin typeface="Times New Roman" panose="02020603050405020304" pitchFamily="18" charset="0"/>
                <a:cs typeface="Times New Roman" panose="02020603050405020304" pitchFamily="18" charset="0"/>
              </a:rPr>
              <a:t>, and Namakkal each have 4 colleges. The remaining locations contain 1 to 3 colleges each.</a:t>
            </a:r>
          </a:p>
          <a:p>
            <a:pPr marL="0" indent="0">
              <a:buNone/>
            </a:pPr>
            <a:r>
              <a:rPr lang="en-IN" b="1" dirty="0">
                <a:latin typeface="Times New Roman" panose="02020603050405020304" pitchFamily="18" charset="0"/>
                <a:cs typeface="Times New Roman" panose="02020603050405020304" pitchFamily="18" charset="0"/>
              </a:rPr>
              <a:t>📜 NAAC Grade Distribution</a:t>
            </a:r>
          </a:p>
          <a:p>
            <a:r>
              <a:rPr lang="en-IN" b="1" dirty="0">
                <a:latin typeface="Times New Roman" panose="02020603050405020304" pitchFamily="18" charset="0"/>
                <a:cs typeface="Times New Roman" panose="02020603050405020304" pitchFamily="18" charset="0"/>
              </a:rPr>
              <a:t>High Performers:</a:t>
            </a:r>
            <a:r>
              <a:rPr lang="en-IN" dirty="0">
                <a:latin typeface="Times New Roman" panose="02020603050405020304" pitchFamily="18" charset="0"/>
                <a:cs typeface="Times New Roman" panose="02020603050405020304" pitchFamily="18" charset="0"/>
              </a:rPr>
              <a:t> The vast majority of the institutions hold strong accreditation, with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being the most common grade (</a:t>
            </a:r>
            <a:r>
              <a:rPr lang="en-IN" b="1" dirty="0">
                <a:latin typeface="Times New Roman" panose="02020603050405020304" pitchFamily="18" charset="0"/>
                <a:cs typeface="Times New Roman" panose="02020603050405020304" pitchFamily="18" charset="0"/>
              </a:rPr>
              <a:t>51 colleges</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Top-Tier Grades:</a:t>
            </a:r>
            <a:r>
              <a:rPr lang="en-IN" dirty="0">
                <a:latin typeface="Times New Roman" panose="02020603050405020304" pitchFamily="18" charset="0"/>
                <a:cs typeface="Times New Roman" panose="02020603050405020304" pitchFamily="18" charset="0"/>
              </a:rPr>
              <a:t> There are </a:t>
            </a:r>
            <a:r>
              <a:rPr lang="en-IN" b="1" dirty="0">
                <a:latin typeface="Times New Roman" panose="02020603050405020304" pitchFamily="18" charset="0"/>
                <a:cs typeface="Times New Roman" panose="02020603050405020304" pitchFamily="18" charset="0"/>
              </a:rPr>
              <a:t>17 colleges</a:t>
            </a:r>
            <a:r>
              <a:rPr lang="en-IN" dirty="0">
                <a:latin typeface="Times New Roman" panose="02020603050405020304" pitchFamily="18" charset="0"/>
                <a:cs typeface="Times New Roman" panose="02020603050405020304" pitchFamily="18" charset="0"/>
              </a:rPr>
              <a:t> with an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grade and </a:t>
            </a:r>
            <a:r>
              <a:rPr lang="en-IN" b="1" dirty="0">
                <a:latin typeface="Times New Roman" panose="02020603050405020304" pitchFamily="18" charset="0"/>
                <a:cs typeface="Times New Roman" panose="02020603050405020304" pitchFamily="18" charset="0"/>
              </a:rPr>
              <a:t>22 colleges</a:t>
            </a:r>
            <a:r>
              <a:rPr lang="en-IN" dirty="0">
                <a:latin typeface="Times New Roman" panose="02020603050405020304" pitchFamily="18" charset="0"/>
                <a:cs typeface="Times New Roman" panose="02020603050405020304" pitchFamily="18" charset="0"/>
              </a:rPr>
              <a:t> with an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grade.</a:t>
            </a:r>
          </a:p>
          <a:p>
            <a:r>
              <a:rPr lang="en-IN" b="1" dirty="0">
                <a:latin typeface="Times New Roman" panose="02020603050405020304" pitchFamily="18" charset="0"/>
                <a:cs typeface="Times New Roman" panose="02020603050405020304" pitchFamily="18" charset="0"/>
              </a:rPr>
              <a:t>Remaining Grades: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accounts for 13 colleges, and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accounts for 2 colleges.</a:t>
            </a:r>
          </a:p>
          <a:p>
            <a:pPr marL="0" indent="0">
              <a:buNone/>
            </a:pP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Enrollment</a:t>
            </a:r>
            <a:r>
              <a:rPr lang="en-IN" b="1" dirty="0">
                <a:latin typeface="Times New Roman" panose="02020603050405020304" pitchFamily="18" charset="0"/>
                <a:cs typeface="Times New Roman" panose="02020603050405020304" pitchFamily="18" charset="0"/>
              </a:rPr>
              <a:t> &amp; Placements </a:t>
            </a:r>
            <a:r>
              <a:rPr lang="en-IN" b="1" i="1" dirty="0">
                <a:latin typeface="Times New Roman" panose="02020603050405020304" pitchFamily="18" charset="0"/>
                <a:cs typeface="Times New Roman" panose="02020603050405020304" pitchFamily="18" charset="0"/>
              </a:rPr>
              <a:t>(Descriptive Stats)</a:t>
            </a:r>
            <a:r>
              <a:rPr lang="en-IN" b="1"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Placement Success:</a:t>
            </a:r>
            <a:r>
              <a:rPr lang="en-IN" dirty="0">
                <a:latin typeface="Times New Roman" panose="02020603050405020304" pitchFamily="18" charset="0"/>
                <a:cs typeface="Times New Roman" panose="02020603050405020304" pitchFamily="18" charset="0"/>
              </a:rPr>
              <a:t> The overall </a:t>
            </a:r>
            <a:r>
              <a:rPr lang="en-IN" b="1" dirty="0">
                <a:latin typeface="Times New Roman" panose="02020603050405020304" pitchFamily="18" charset="0"/>
                <a:cs typeface="Times New Roman" panose="02020603050405020304" pitchFamily="18" charset="0"/>
              </a:rPr>
              <a:t>mean placement rate is 76.03%</a:t>
            </a:r>
            <a:r>
              <a:rPr lang="en-IN" dirty="0">
                <a:latin typeface="Times New Roman" panose="02020603050405020304" pitchFamily="18" charset="0"/>
                <a:cs typeface="Times New Roman" panose="02020603050405020304" pitchFamily="18" charset="0"/>
              </a:rPr>
              <a:t>, with top-performing colleges reaching up to a </a:t>
            </a:r>
            <a:r>
              <a:rPr lang="en-IN" b="1" dirty="0">
                <a:latin typeface="Times New Roman" panose="02020603050405020304" pitchFamily="18" charset="0"/>
                <a:cs typeface="Times New Roman" panose="02020603050405020304" pitchFamily="18" charset="0"/>
              </a:rPr>
              <a:t>92.99%</a:t>
            </a:r>
            <a:r>
              <a:rPr lang="en-IN" dirty="0">
                <a:latin typeface="Times New Roman" panose="02020603050405020304" pitchFamily="18" charset="0"/>
                <a:cs typeface="Times New Roman" panose="02020603050405020304" pitchFamily="18" charset="0"/>
              </a:rPr>
              <a:t> placement rate.</a:t>
            </a:r>
          </a:p>
          <a:p>
            <a:endParaRPr lang="en-IN" dirty="0"/>
          </a:p>
        </p:txBody>
      </p:sp>
    </p:spTree>
    <p:extLst>
      <p:ext uri="{BB962C8B-B14F-4D97-AF65-F5344CB8AC3E}">
        <p14:creationId xmlns:p14="http://schemas.microsoft.com/office/powerpoint/2010/main" val="759744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351395"/>
            <a:ext cx="12192000" cy="640515"/>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32000" tIns="180000" rIns="216000" bIns="180000" numCol="1" spcCol="0" rtlCol="0" fromWordArt="0" anchor="ctr" anchorCtr="0" forceAA="0" compatLnSpc="1">
            <a:prstTxWarp prst="textNoShape">
              <a:avLst/>
            </a:prstTxWarp>
            <a:spAutoFit/>
          </a:bodyPr>
          <a:lstStyle/>
          <a:p>
            <a:pPr algn="l" rtl="0">
              <a:spcAft>
                <a:spcPts val="0"/>
              </a:spcAft>
            </a:pPr>
            <a:r>
              <a:rPr lang="en-GB" sz="1800" dirty="0">
                <a:solidFill>
                  <a:srgbClr val="000000"/>
                </a:solidFill>
                <a:effectLst/>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200" dirty="0">
              <a:effectLst/>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914400" y="530365"/>
            <a:ext cx="291465" cy="291465"/>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nvGraphicFramePr>
            <p:xfrm>
              <a:off x="721012" y="1170879"/>
              <a:ext cx="10749976" cy="533572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721012" y="1170879"/>
                <a:ext cx="10749976" cy="5335725"/>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AFBE-CA74-4A72-0F53-E9BEFFFD93B2}"/>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Business Insights:</a:t>
            </a:r>
          </a:p>
        </p:txBody>
      </p:sp>
      <p:sp>
        <p:nvSpPr>
          <p:cNvPr id="3" name="Content Placeholder 2">
            <a:extLst>
              <a:ext uri="{FF2B5EF4-FFF2-40B4-BE49-F238E27FC236}">
                <a16:creationId xmlns:a16="http://schemas.microsoft.com/office/drawing/2014/main" id="{D490AB6E-B8B9-2993-F7A4-118E8E56452F}"/>
              </a:ext>
            </a:extLst>
          </p:cNvPr>
          <p:cNvSpPr>
            <a:spLocks noGrp="1"/>
          </p:cNvSpPr>
          <p:nvPr>
            <p:ph idx="1"/>
          </p:nvPr>
        </p:nvSpPr>
        <p:spPr>
          <a:xfrm>
            <a:off x="838200" y="1717993"/>
            <a:ext cx="10515600" cy="4351338"/>
          </a:xfrm>
        </p:spPr>
        <p:txBody>
          <a:bodyPr>
            <a:normAutofit lnSpcReduction="10000"/>
          </a:bodyPr>
          <a:lstStyle/>
          <a:p>
            <a:r>
              <a:rPr lang="en-IN" b="1" dirty="0">
                <a:latin typeface="Times New Roman" panose="02020603050405020304" pitchFamily="18" charset="0"/>
                <a:cs typeface="Times New Roman" panose="02020603050405020304" pitchFamily="18" charset="0"/>
              </a:rPr>
              <a:t>Talent Hubs Identified</a:t>
            </a:r>
            <a:r>
              <a:rPr lang="en-IN" dirty="0">
                <a:latin typeface="Times New Roman" panose="02020603050405020304" pitchFamily="18" charset="0"/>
                <a:cs typeface="Times New Roman" panose="02020603050405020304" pitchFamily="18" charset="0"/>
              </a:rPr>
              <a:t>: Chennai and Coimbatore have the highest concentration of colleges and strong placement performance.</a:t>
            </a:r>
          </a:p>
          <a:p>
            <a:r>
              <a:rPr lang="en-IN" b="1" dirty="0">
                <a:latin typeface="Times New Roman" panose="02020603050405020304" pitchFamily="18" charset="0"/>
                <a:cs typeface="Times New Roman" panose="02020603050405020304" pitchFamily="18" charset="0"/>
              </a:rPr>
              <a:t>Quality Benchmarking</a:t>
            </a:r>
            <a:r>
              <a:rPr lang="en-IN" dirty="0">
                <a:latin typeface="Times New Roman" panose="02020603050405020304" pitchFamily="18" charset="0"/>
                <a:cs typeface="Times New Roman" panose="02020603050405020304" pitchFamily="18" charset="0"/>
              </a:rPr>
              <a:t>: NAAC Grade “A” and “A++” colleges show better placement percentages, ideal for recruiter targeting.</a:t>
            </a:r>
          </a:p>
          <a:p>
            <a:r>
              <a:rPr lang="en-IN" b="1" dirty="0">
                <a:latin typeface="Times New Roman" panose="02020603050405020304" pitchFamily="18" charset="0"/>
                <a:cs typeface="Times New Roman" panose="02020603050405020304" pitchFamily="18" charset="0"/>
              </a:rPr>
              <a:t>Recruiter Guidance</a:t>
            </a:r>
            <a:r>
              <a:rPr lang="en-IN" dirty="0">
                <a:latin typeface="Times New Roman" panose="02020603050405020304" pitchFamily="18" charset="0"/>
                <a:cs typeface="Times New Roman" panose="02020603050405020304" pitchFamily="18" charset="0"/>
              </a:rPr>
              <a:t>: Dashboards highlight where skilled candidates are most available, helping optimize hiring strategies.</a:t>
            </a:r>
          </a:p>
          <a:p>
            <a:r>
              <a:rPr lang="en-IN" b="1" dirty="0">
                <a:latin typeface="Times New Roman" panose="02020603050405020304" pitchFamily="18" charset="0"/>
                <a:cs typeface="Times New Roman" panose="02020603050405020304" pitchFamily="18" charset="0"/>
              </a:rPr>
              <a:t>Improvement Areas</a:t>
            </a:r>
            <a:r>
              <a:rPr lang="en-IN" dirty="0">
                <a:latin typeface="Times New Roman" panose="02020603050405020304" pitchFamily="18" charset="0"/>
                <a:cs typeface="Times New Roman" panose="02020603050405020304" pitchFamily="18" charset="0"/>
              </a:rPr>
              <a:t>: States/colleges with weaker grades or low placement ratios need stronger industry‑academia collaboration.</a:t>
            </a:r>
          </a:p>
          <a:p>
            <a:r>
              <a:rPr lang="en-IN" dirty="0"/>
              <a:t>Educational consultants and training providers can target underperforming regions to bridge skill gaps.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79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3C891-0149-69CE-64B9-76625899FE8D}"/>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FCB894D8-D7FB-5F8F-AE20-5BDA7325F8A2}"/>
              </a:ext>
            </a:extLst>
          </p:cNvPr>
          <p:cNvSpPr>
            <a:spLocks noGrp="1"/>
          </p:cNvSpPr>
          <p:nvPr>
            <p:ph idx="1"/>
          </p:nvPr>
        </p:nvSpPr>
        <p:spPr/>
        <p:txBody>
          <a:bodyPr/>
          <a:lstStyle/>
          <a:p>
            <a:r>
              <a:rPr lang="en-IN" dirty="0"/>
              <a:t>Strengthen placement cells in underperforming states</a:t>
            </a:r>
          </a:p>
          <a:p>
            <a:r>
              <a:rPr lang="en-IN" dirty="0"/>
              <a:t>Encourage NAAC accreditation for quality assurance</a:t>
            </a:r>
          </a:p>
          <a:p>
            <a:r>
              <a:rPr lang="en-IN" dirty="0"/>
              <a:t>Promote industry‑academia partnerships</a:t>
            </a:r>
          </a:p>
          <a:p>
            <a:r>
              <a:rPr lang="en-IN" dirty="0"/>
              <a:t>Collect more equally distributes data of states</a:t>
            </a:r>
          </a:p>
          <a:p>
            <a:r>
              <a:rPr lang="en-IN" dirty="0"/>
              <a:t>High and average package of placement can be used for more analysis. </a:t>
            </a:r>
          </a:p>
          <a:p>
            <a:r>
              <a:rPr lang="en-IN" dirty="0"/>
              <a:t>Use dashboards for continuous monitoring</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533663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8342B-BB87-2B61-EDEB-0A0C0AD75DCB}"/>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267631F-B06C-0162-D96F-46D2F156AA97}"/>
              </a:ext>
            </a:extLst>
          </p:cNvPr>
          <p:cNvSpPr>
            <a:spLocks noGrp="1"/>
          </p:cNvSpPr>
          <p:nvPr>
            <p:ph idx="1"/>
          </p:nvPr>
        </p:nvSpPr>
        <p:spPr/>
        <p:txBody>
          <a:bodyPr/>
          <a:lstStyle/>
          <a:p>
            <a:r>
              <a:rPr lang="en-IN" dirty="0"/>
              <a:t>Delivered actionable insights from South Indian college data</a:t>
            </a:r>
          </a:p>
          <a:p>
            <a:r>
              <a:rPr lang="en-IN" dirty="0"/>
              <a:t>Combined Python analysis with Power BI visualization</a:t>
            </a:r>
          </a:p>
          <a:p>
            <a:r>
              <a:rPr lang="en-IN" dirty="0"/>
              <a:t>Supports decision‑making for education and recruitment</a:t>
            </a:r>
          </a:p>
          <a:p>
            <a:r>
              <a:rPr lang="en-IN" dirty="0"/>
              <a:t>Future scope: expand dataset, integrate recruiter feedback(for knowing their expectations), include high and average placement package of colleges</a:t>
            </a:r>
          </a:p>
          <a:p>
            <a:pPr marL="0" indent="0">
              <a:buNone/>
            </a:pPr>
            <a:r>
              <a:rPr lang="en-IN" dirty="0">
                <a:latin typeface="Times New Roman" panose="02020603050405020304" pitchFamily="18" charset="0"/>
                <a:cs typeface="Times New Roman" panose="02020603050405020304" pitchFamily="18" charset="0"/>
                <a:hlinkClick r:id="rId2"/>
              </a:rPr>
              <a:t>Google </a:t>
            </a:r>
            <a:r>
              <a:rPr lang="en-IN" dirty="0" err="1">
                <a:latin typeface="Times New Roman" panose="02020603050405020304" pitchFamily="18" charset="0"/>
                <a:cs typeface="Times New Roman" panose="02020603050405020304" pitchFamily="18" charset="0"/>
                <a:hlinkClick r:id="rId2"/>
              </a:rPr>
              <a:t>Colab</a:t>
            </a:r>
            <a:r>
              <a:rPr lang="en-IN" dirty="0">
                <a:latin typeface="Times New Roman" panose="02020603050405020304" pitchFamily="18" charset="0"/>
                <a:cs typeface="Times New Roman" panose="02020603050405020304" pitchFamily="18" charset="0"/>
              </a:rPr>
              <a:t> link</a:t>
            </a:r>
          </a:p>
          <a:p>
            <a:pPr marL="0" indent="0">
              <a:buNone/>
            </a:pPr>
            <a:r>
              <a:rPr lang="en-IN" dirty="0" err="1">
                <a:latin typeface="Times New Roman" panose="02020603050405020304" pitchFamily="18" charset="0"/>
                <a:cs typeface="Times New Roman" panose="02020603050405020304" pitchFamily="18" charset="0"/>
                <a:hlinkClick r:id="rId3"/>
              </a:rPr>
              <a:t>Gform</a:t>
            </a:r>
            <a:r>
              <a:rPr lang="en-IN" dirty="0">
                <a:latin typeface="Times New Roman" panose="02020603050405020304" pitchFamily="18" charset="0"/>
                <a:cs typeface="Times New Roman" panose="02020603050405020304" pitchFamily="18" charset="0"/>
              </a:rPr>
              <a:t> link</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932862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4EA04-8968-AE88-0C9A-0A4320E8FC84}"/>
              </a:ext>
            </a:extLst>
          </p:cNvPr>
          <p:cNvSpPr>
            <a:spLocks noGrp="1"/>
          </p:cNvSpPr>
          <p:nvPr>
            <p:ph type="title"/>
          </p:nvPr>
        </p:nvSpPr>
        <p:spPr>
          <a:xfrm>
            <a:off x="533400" y="2766218"/>
            <a:ext cx="10515600" cy="1325563"/>
          </a:xfrm>
        </p:spPr>
        <p:txBody>
          <a:bodyPr/>
          <a:lstStyle/>
          <a:p>
            <a:pPr algn="ctr"/>
            <a:r>
              <a:rPr lang="en-IN" dirty="0"/>
              <a:t>THANK YOU!</a:t>
            </a:r>
          </a:p>
        </p:txBody>
      </p:sp>
    </p:spTree>
    <p:extLst>
      <p:ext uri="{BB962C8B-B14F-4D97-AF65-F5344CB8AC3E}">
        <p14:creationId xmlns:p14="http://schemas.microsoft.com/office/powerpoint/2010/main" val="6473159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LE_NAME_PARSED_KEY"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530c0307-63ce-4bda-8873-ef89f8b27a6e}">
  <we:reference id="WA200003233" version="2.0.0.3" store="en-US" storeType="OMEX"/>
  <we:alternateReferences/>
  <we:properties>
    <we:property name="Microsoft.Office.CampaignId" value="&quot;none&quot;"/>
    <we:property name="reportUrl" value="&quot;/groups/me/reports/eb3888aa-1037-42d1-b707-cb966a9986f8/5b165cd50712988457c3?bookmarkGuid=e2af934f-cee5-4d37-866d-f6133bf91ca0&amp;bookmarkUsage=1&amp;ctid=48bf0148-8d9d-49dd-a5a3-e62ba644d2d8&amp;fromEntryPoint=export&quot;"/>
    <we:property name="reportState" value="&quot;CONNECTED&quot;"/>
    <we:property name="artifactViewState" value="&quot;live&quot;"/>
    <we:property name="reportEmbeddedTime" value="&quot;2026-06-29T03:14:45.528Z&quot;"/>
    <we:property name="creatorSessionId" value="&quot;07e74a40-dd1b-4067-8fd2-2803f4693b46&quot;"/>
    <we:property name="creatorUserId" value="&quot;1003200604230169&quot;"/>
    <we:property name="creatorTenantId" value="&quot;48bf0148-8d9d-49dd-a5a3-e62ba644d2d8&quot;"/>
    <we:property name="pageDisplayName" value="&quot;Page 1&quot;"/>
    <we:property name="pageName" value="&quot;5b165cd50712988457c3&quot;"/>
    <we:property name="reportName" value="&quot;zyphotek_final&quot;"/>
    <we:property name="isVisualContainerHeaderHidden" value="false"/>
    <we:property name="isFiltersActionButtonVisible" value="true"/>
    <we:property name="initialStateBookmark" value="&quot;H4sIAAAAAAAAA+1XWW/bMAz+K4Vf+hIMPuIjfUuzbBh6Bc3QlyEoaIl21CqyIcvdsiL/fZTsoAfWFSvatRtmIIhEUSQ/8tN17XHR1BLWx7BCb8/br6rLFejLncAbeKqXnZwcHI1PD86Px0dTEle1EZVqvL1rz4Au0ZyJpgVpLZDwy2LggZQzKG2vANngwKtRN5UCKb5jp0xDRre4GXj4rZaVBmtybsCgNXtF6tQn38G7iDwCM+IK58hMJ43zIIkZj/00CEdZNoxTZtWaTsFF9lMVa9q5n1TKgFDkxsqKIMcsiorQ94c5FHw0jAMrb4QqZR/wzdzP69pmpVkC/VM28gtya+1sNgSHB2mQZsALnkcjyJMiz4bOh5Cmd5evp99qTZmi/HW2JoS7rLRg5MdlRGPTJeDam1SyXbnW9I58XrWa4SkWbkgZYdZkab5ENIFnI5npitLupGRDSizx3FXUDi6rrxON5JZ7e/5mQZJfgmWgeT90FzFZEuVS0s+4jKHcFonQcTBwBLUdcP2GUUSfeIdqVYMWzRbjtncglI1o4B1iYV4O/uk24ENBVekAn4FsLdbdMV+KNawA1I6dSRN3qmJnqkoiDGpK0y7ZoM9mbYUGLEzCp1opFyQkKStYkTAYsiQseBxGfhhmj5JgzK9AMSrIfQaMy1JjCabvTp+dHrPzGZKyMm7gQ6v6EvrPyBTqaI56f+0gvxd6y5NwcC/y14TblS8M2ShKRpEfJXwURaMkDuJXX8PH4/Hk/KMG/rwLmCaCnyAPMUp9jkB7YMLC8NXhPrZlDd7wugmeUiAXz2QJ2vx1CyewC2d7SpP+xa1zuOdJF/1LEGPhOIyQxXkaZmFE525apH4wfONL9l8jcC3wP3t/jxKLfvsdBZAWRZClqT+EJIqjxy8LL03dw4p1pXibxL0T3k0p4yfwlleqNW+buQ+j/XPEvRXDwt1+N7ezRfdgegjaRtWapgaGM1DonNedDYFOj3gCiiPv2/qBO7h7NnrOCRVL5BIfmWAfk9tbOX0/AP7b/ljXDgAA&quot;"/>
    <we:property name="bookmark" value="&quot;H4sIAAAAAAAAA+1XTW/bMAz9K4POwWDZ8VdvadbtUhTBMuwyBAUtUY5bxzJkuWtW5L+Pkl30Y92KFe2aDTtZIhk+PvLJiq+YrLq2hu0JbJAdsEOtzzdgzt9wNmHNYEsUSgVQZFkRpUUmUAUFeXVrK9107OCKWTAl2s9V10PtEpHxC5M85WkGUskiyqFIVJFN2WrCoK4XULoYBXWHE9ai6XQDdfUNhxTksqbH3YThZVtrAw5oacGiA7ugcNpTYfxtRHWAsNUFLlHYwRoXPImFjIOUh3mWTeNUuLBuCPD1PhjiUnv4uW4sVA3BOJviBWZRpMIgmBagZD6NubN3VVPWY8E3v/20bV3LujXQk3pUnBGsy7PbEZ0HW+IwqtqOcMX26LI11D/q6pBrTrxLbSpBOL4jBruhAVdsrut+41dHd+xL3RuBH1F5V2Mru6VMyzWi5cxVsjCa2u6tlKOuscRTP27nXOuvc4MEK9lBsFuR5ZdkBRg5un5gLJRQiYCpSEIl4zAKwjB7lPFMXkAjCP0+3VlZGizBjtujZ+/F4nSBFNxY73jfN6OogmdsC22MRHO49ZTfVeZaueHkXuWvSZf4kSkMRR4leRREicyjKE9iHr+6YE9ms/npBwPy2dUKQYIyxCgNJAId+ESE4avTfex8Tvb43PCnDMjXM1+DsX/dweHu4FxfSRR/duvSGXUyVP8Swlh5DSNkcZGGWRjRJZOqNODTPT+y/5qA2wr/q/f3JLEaX785h1QpnqVpMIUkiqPH/yy8tHSPtRhGsZ/CvVPezSjjJ+hW6qa3+63cn7P9c8K9VYOTrVfuTbfYBulbyC10b7sWBC6gQQ/eDjkq9HGkE2ikG41fG/c8rkjnw2Q+Q927ofhvJOZhPNp3ecZk2LENAAA=&quot;"/>
    <we:property name="datasetId" value="&quot;68675794-e12a-4fa0-9356-d56c4a2b6d60&quot;"/>
    <we:property name="embedUrl" value="&quot;/reportEmbed?reportId=eb3888aa-1037-42d1-b707-cb966a9986f8&amp;config=eyJjbHVzdGVyVXJsIjoiaHR0cHM6Ly9XQUJJLUlORElBLUNFTlRSQUwtQS1QUklNQVJZLXJlZGlyZWN0LmFuYWx5c2lzLndpbmRvd3MubmV0IiwiZW1iZWRGZWF0dXJlcyI6eyJ1c2FnZU1ldHJpY3NWTmV4dCI6dHJ1ZX19&amp;disableSensitivityBanner=true&amp;storytellingChangeViewModeShortcutKeys=true&quot;"/>
    <we:property name="backgroundColor" value="&quot;#FFFFF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5" ma:contentTypeDescription="Create a new document." ma:contentTypeScope="" ma:versionID="aba17d7263e5a17e1efe42a3571abb41">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e4e3c9c8ed1c3d723d02c9f1cb24d19a"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7AB1FA-2F28-4684-9230-02ACEB6C0B0A}">
  <ds:schemaRefs>
    <ds:schemaRef ds:uri="http://purl.org/dc/elements/1.1/"/>
    <ds:schemaRef ds:uri="http://schemas.microsoft.com/office/2006/metadata/properties"/>
    <ds:schemaRef ds:uri="b1e4d6ee-9f6f-43f8-a618-24f3d84da28f"/>
    <ds:schemaRef ds:uri="http://schemas.microsoft.com/office/2006/documentManagement/types"/>
    <ds:schemaRef ds:uri="http://purl.org/dc/terms/"/>
    <ds:schemaRef ds:uri="http://schemas.openxmlformats.org/package/2006/metadata/core-properties"/>
    <ds:schemaRef ds:uri="f577acbf-5b0b-4b4f-9948-268e97f8d3a4"/>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3.xml><?xml version="1.0" encoding="utf-8"?>
<ds:datastoreItem xmlns:ds="http://schemas.openxmlformats.org/officeDocument/2006/customXml" ds:itemID="{1DD29C39-1C4E-4B06-A1F4-2510F2DAC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1571</TotalTime>
  <Words>620</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Segoe UI Light</vt:lpstr>
      <vt:lpstr>Times New Roman</vt:lpstr>
      <vt:lpstr>Office Theme</vt:lpstr>
      <vt:lpstr>South Indian College Data Analysis</vt:lpstr>
      <vt:lpstr>Objective:</vt:lpstr>
      <vt:lpstr>Data Collection Method:</vt:lpstr>
      <vt:lpstr>Data Cleaning:</vt:lpstr>
      <vt:lpstr>Python Analysis:</vt:lpstr>
      <vt:lpstr>Key Findings:</vt:lpstr>
      <vt:lpstr>Microsoft Power BI</vt:lpstr>
      <vt:lpstr>Business Insights: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VISHVA RAJA</cp:lastModifiedBy>
  <cp:revision>4</cp:revision>
  <dcterms:created xsi:type="dcterms:W3CDTF">2018-06-07T21:39:02Z</dcterms:created>
  <dcterms:modified xsi:type="dcterms:W3CDTF">2026-06-29T04:23:29Z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